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D2E0"/>
          </a:solidFill>
          <a:ln w="12700">
            <a:solidFill>
              <a:srgbClr val="00D2E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1005840"/>
            <a:ext cx="3474720" cy="411480"/>
          </a:xfrm>
          <a:prstGeom prst="rect">
            <a:avLst/>
          </a:prstGeom>
          <a:solidFill>
            <a:srgbClr val="132238"/>
          </a:solidFill>
          <a:ln w="12700">
            <a:solidFill>
              <a:srgbClr val="00D2E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00584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D2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PLATAFORMA CIENTÍFICA &amp; CLÍNICA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914400" y="155448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BIOENDO LAB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914400" y="2606040"/>
            <a:ext cx="10332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9F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Vitamina K, Cascada de Coagulación y el Eje Neuroendocrino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14400" y="32004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Integración interdisciplinaria de bioquímica celular, hemostasia vascular, farmacología de anticoagulantes y regulación hormonal para la docencia médica universitaria.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914400" y="4114800"/>
            <a:ext cx="3291840" cy="1828800"/>
          </a:xfrm>
          <a:prstGeom prst="rect">
            <a:avLst/>
          </a:prstGeom>
          <a:solidFill>
            <a:srgbClr val="101A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43000" y="429768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2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HEMOSTASIA &amp; VITAMINA K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43000" y="4663440"/>
            <a:ext cx="2834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Carboxilación gamma-glutamil, ciclo VKORC1, antagonismo del dicumarol y factores dependientes de residuos Gla (II, VII, IX, X).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63440" y="4114800"/>
            <a:ext cx="3291840" cy="1828800"/>
          </a:xfrm>
          <a:prstGeom prst="rect">
            <a:avLst/>
          </a:prstGeom>
          <a:solidFill>
            <a:srgbClr val="101A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92040" y="429768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2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FARMACOGENÓMICA &amp; DOACs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92040" y="4663440"/>
            <a:ext cx="2834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Polimorfismos CYP2C9/VKORC1, control de dosis de warfarina, rangos INR e inhibidores orales directos (Apixabán, Rivaroxabán, Dabigatrán).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412480" y="4114800"/>
            <a:ext cx="3291840" cy="1828800"/>
          </a:xfrm>
          <a:prstGeom prst="rect">
            <a:avLst/>
          </a:prstGeom>
          <a:solidFill>
            <a:srgbClr val="101A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41080" y="429768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2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 NEUROENDOCRINO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641080" y="4663440"/>
            <a:ext cx="2834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Servomecanismos hipotálamo-hipófisis, hormonas tróficas periféricas, retroalimentación negativa y homeostasis de calcemia y glucemia.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914400" y="6217920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0D2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Presentación Oficial para Sustentación Académica | Bioquímica y Fisiología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D2E0"/>
          </a:solidFill>
          <a:ln w="12700">
            <a:solidFill>
              <a:srgbClr val="00D2E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200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2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1 - FUNDAMENTOS BIOMÉDICOS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59436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Introducción: El Principio de la Homeostasis Orgánica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63093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BioEndo Lab | Módulo 2 de 13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0" y="63093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Fisiología &amp; Bioquímica Humana - Formato de Exposición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280160"/>
            <a:ext cx="5120640" cy="4754880"/>
          </a:xfrm>
          <a:prstGeom prst="rect">
            <a:avLst/>
          </a:prstGeom>
          <a:solidFill>
            <a:srgbClr val="101A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5087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2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Concepto de Medio Interno y Homeostasis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5840" y="1965960"/>
            <a:ext cx="45720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Claude Bernard (1865): 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Postuló que la constancia del "milieu intérieur" es la condición indispensable para la vida libre e independiente de los organismos superiores.
</a:t>
            </a:r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Walter B. Cannon (1929): 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Acuñó el término homeostasis para definir las respuestas coordinadas y automáticas que mantienen estables las variables fisiológicas (pH, calcemia, presión osmótica, volemia).
</a:t>
            </a:r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Dos Pilares Indispensables: 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sistema endocrino (regulación humoral a larga distancia) y el endotelio hemostático (preservación del volumen circulante) garantizan que ninguna célula carezca de perfusión y nutrientes.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17920" y="1280160"/>
            <a:ext cx="5212080" cy="1417320"/>
          </a:xfrm>
          <a:prstGeom prst="rect">
            <a:avLst/>
          </a:prstGeom>
          <a:solidFill>
            <a:srgbClr val="131E35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0" y="141732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9F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Preservación Vascular &amp; Hemostasia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0" y="178308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rotura de un vaso dispara de inmediato la cascada proteolítica para evitar la exanguinación sin provocar trombosis sistémica oclusiva.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217920" y="2880360"/>
            <a:ext cx="5212080" cy="1417320"/>
          </a:xfrm>
          <a:prstGeom prst="rect">
            <a:avLst/>
          </a:prstGeom>
          <a:solidFill>
            <a:srgbClr val="131E35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301752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9F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Calcio Iónico: El Mediador Universal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0" y="338328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ion Ca²⁺ divalente actúa tanto como cofactor enzimático en la coagulación como mensajero intracelular en la secreción y respuesta endocrina.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217920" y="4480560"/>
            <a:ext cx="5212080" cy="1417320"/>
          </a:xfrm>
          <a:prstGeom prst="rect">
            <a:avLst/>
          </a:prstGeom>
          <a:solidFill>
            <a:srgbClr val="131E35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0" y="461772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9F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Micronutrientes con Impacto Clínico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0" y="498348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Vitamina K ejemplifica cómo una molécula dietética liposoluble condiciona la competencia catalítica de las enzimas hemostáticas en el hígado.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D2E0"/>
          </a:solidFill>
          <a:ln w="12700">
            <a:solidFill>
              <a:srgbClr val="00D2E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200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2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2 - BIOQUÍMICA CELULAR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59436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Bioquímica de la Vitamina K y el Ciclo Redox Hepático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63093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BioEndo Lab | Módulo 3 de 13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0" y="63093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Fisiología &amp; Bioquímica Humana - Formato de Exposición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280160"/>
            <a:ext cx="3383280" cy="3657600"/>
          </a:xfrm>
          <a:prstGeom prst="rect">
            <a:avLst/>
          </a:prstGeom>
          <a:solidFill>
            <a:srgbClr val="101A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14630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2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Estructura &amp; Liposolubilidad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60120" y="1920240"/>
            <a:ext cx="292608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Núcleo central: 2-metil-1,4-naftoquinona con cadena lateral alifática isoprenoide hidrofóbica.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Formas biológicas: K1 (Filoquinona, de origen vegetal) y K2 (Menaquinonas, sintetizadas por la microbiota intestinal).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Absorción entérica: Requiere bilis, sales biliares y micelas mixtas en el íleon para incorporarse a quilomicrones.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389120" y="1280160"/>
            <a:ext cx="3383280" cy="3657600"/>
          </a:xfrm>
          <a:prstGeom prst="rect">
            <a:avLst/>
          </a:prstGeom>
          <a:solidFill>
            <a:srgbClr val="101A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17720" y="14630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9F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Carboxilación Gamma-Glutamil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617720" y="1920240"/>
            <a:ext cx="292608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Enzima: Gamma-glutamil carboxilasa en el retículo endoplásmico rugoso del hepatocito.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Sustrato: Residuos de Ácido Glutámico (Glu) en el dominio N-terminal de precursores.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Producto: Residuos de Ácido Gamma-Carboxiglutámico (Gla) con doble carga negativa (-2).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Cofactor activo: Vitamina K Hidroquinona (KH₂).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046720" y="1280160"/>
            <a:ext cx="3383280" cy="3657600"/>
          </a:xfrm>
          <a:prstGeom prst="rect">
            <a:avLst/>
          </a:prstGeom>
          <a:solidFill>
            <a:srgbClr val="101A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75320" y="14630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Ciclo Redox VKORC1 &amp; Dominio Gla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75320" y="1920240"/>
            <a:ext cx="292608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Enzima microsomal: Vitamina K Epóxido Reductasa (VKORC1).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Regenera el 2,3-epóxido de vitamina K oxidado nuevamente a quinona e hidroquinona activa.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Quelación de Calcio: Los residuos Gla ligan iones Ca²⁺ formando puentes electrostáticos con la fosfatidilserina plaquetaria.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Factores activos: II, VII, IX, X, y Proteínas C, S y Z.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31520" y="5120640"/>
            <a:ext cx="10698480" cy="1005840"/>
          </a:xfrm>
          <a:prstGeom prst="rect">
            <a:avLst/>
          </a:prstGeom>
          <a:solidFill>
            <a:srgbClr val="18243C"/>
          </a:solidFill>
          <a:ln w="12700">
            <a:solidFill>
              <a:srgbClr val="09F1B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5212080"/>
            <a:ext cx="10332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9F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PERLA CLÍNICA: PIVKA (Proteins Induced by Vitamin K Absence)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14400" y="5532120"/>
            <a:ext cx="10332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déficit de vitamina K o bloqueo farmacológico con antagonistas, el hígado secreta zimógenos descarboxilados incompletos (PIVKA-II). Al carecer de residuos Gla, son afuncionales e incapaces de fijar Ca²⁺ o anclarse a fosfolípidos de membranas.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D2E0"/>
          </a:solidFill>
          <a:ln w="12700">
            <a:solidFill>
              <a:srgbClr val="00D2E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200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2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3 - HEMOSTASIA CELULAR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59436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Cascada Enzimática y el Complejo Protrombinasa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63093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BioEndo Lab | Módulo 4 de 13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0" y="63093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Fisiología &amp; Bioquímica Humana - Formato de Exposición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280160"/>
            <a:ext cx="2560320" cy="3657600"/>
          </a:xfrm>
          <a:prstGeom prst="rect">
            <a:avLst/>
          </a:prstGeom>
          <a:solidFill>
            <a:srgbClr val="101A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1463040"/>
            <a:ext cx="1097280" cy="320040"/>
          </a:xfrm>
          <a:prstGeom prst="rect">
            <a:avLst/>
          </a:prstGeom>
          <a:solidFill>
            <a:srgbClr val="1E293B"/>
          </a:solidFill>
          <a:ln w="12700">
            <a:solidFill>
              <a:srgbClr val="00D2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46304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D2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14400" y="192024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Activación Hepática Gla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4400" y="2560320"/>
            <a:ext cx="21945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gamma-carboxilación N-terminal equipa a los factores II, VII, IX y X con afinidad quelante por iones calcio.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429000" y="1280160"/>
            <a:ext cx="2560320" cy="3657600"/>
          </a:xfrm>
          <a:prstGeom prst="rect">
            <a:avLst/>
          </a:prstGeom>
          <a:solidFill>
            <a:srgbClr val="101A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11880" y="1463040"/>
            <a:ext cx="1097280" cy="320040"/>
          </a:xfrm>
          <a:prstGeom prst="rect">
            <a:avLst/>
          </a:prstGeom>
          <a:solidFill>
            <a:srgbClr val="1E293B"/>
          </a:solidFill>
          <a:ln w="12700">
            <a:solidFill>
              <a:srgbClr val="00D2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11880" y="146304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D2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611880" y="192024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Vía Extrínseca &amp; Intrínseca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611880" y="2560320"/>
            <a:ext cx="21945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Factor Tisular (FT) expuesto activa al Factor VIIa. La vía de contacto activa IXa. Ambos convergen activando al Factor X (Xa).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126480" y="1280160"/>
            <a:ext cx="2560320" cy="3657600"/>
          </a:xfrm>
          <a:prstGeom prst="rect">
            <a:avLst/>
          </a:prstGeom>
          <a:solidFill>
            <a:srgbClr val="101A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09360" y="1463040"/>
            <a:ext cx="1097280" cy="320040"/>
          </a:xfrm>
          <a:prstGeom prst="rect">
            <a:avLst/>
          </a:prstGeom>
          <a:solidFill>
            <a:srgbClr val="1E293B"/>
          </a:solidFill>
          <a:ln w="12700">
            <a:solidFill>
              <a:srgbClr val="00D2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09360" y="146304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D2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309360" y="192024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Complejo Protrombinasa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309360" y="2560320"/>
            <a:ext cx="21945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la membrana plaquetaria se ensambla: Factor Xa + Factor Va + Fosfatidilserina + Ca²⁺. Multiplica la velocidad x 300,000 veces.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823960" y="1280160"/>
            <a:ext cx="2560320" cy="3657600"/>
          </a:xfrm>
          <a:prstGeom prst="rect">
            <a:avLst/>
          </a:prstGeom>
          <a:solidFill>
            <a:srgbClr val="101A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006840" y="1463040"/>
            <a:ext cx="1097280" cy="320040"/>
          </a:xfrm>
          <a:prstGeom prst="rect">
            <a:avLst/>
          </a:prstGeom>
          <a:solidFill>
            <a:srgbClr val="1E293B"/>
          </a:solidFill>
          <a:ln w="12700">
            <a:solidFill>
              <a:srgbClr val="00D2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006840" y="146304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D2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4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9006840" y="192024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Trombina y Malla de Fibrina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006840" y="2560320"/>
            <a:ext cx="21945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protrombina (II) se escinde a trombina (IIa). Esta transforma fibrinógeno soluble en fibrina, y el Factor XIIIa reticula el coágulo definitivo.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31520" y="5120640"/>
            <a:ext cx="10698480" cy="1005840"/>
          </a:xfrm>
          <a:prstGeom prst="rect">
            <a:avLst/>
          </a:prstGeom>
          <a:solidFill>
            <a:srgbClr val="0D2438"/>
          </a:solidFill>
          <a:ln w="12700">
            <a:solidFill>
              <a:srgbClr val="00D2E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4400" y="5212080"/>
            <a:ext cx="10332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2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PAPEL CRÍTICO DEL FACTOR XIIIa (TRANSGLUTAMINASA PLASMÁTICA)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14400" y="5532120"/>
            <a:ext cx="10332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 enlaces isopeptídicos covalentes entre residuos de lisina y glutamina de protofibrillas de fibrina, otorgando elasticidad y resistencia mecánica al trombo contra las fuerzas de cizallamiento del flujo sanguíneo pulsátil.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D2E0"/>
          </a:solidFill>
          <a:ln w="12700">
            <a:solidFill>
              <a:srgbClr val="00D2E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200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2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4 - FARMACOLOGÍA CLÍNICA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59436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Mecanismo Farmacológico: Vitamina K vs. Dicumarol y Warfarina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63093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BioEndo Lab | Módulo 5 de 13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0" y="63093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Fisiología &amp; Bioquímica Humana - Formato de Exposición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280160"/>
            <a:ext cx="5212080" cy="4754880"/>
          </a:xfrm>
          <a:prstGeom prst="rect">
            <a:avLst/>
          </a:prstGeom>
          <a:solidFill>
            <a:srgbClr val="101A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5087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Historia: La Enfermedad del Trébol Dulce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5840" y="1965960"/>
            <a:ext cx="466344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Origen (Dakota del Norte, 1920): </a:t>
            </a:r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Ganado alimentado con heno de trébol dulce fermentado desarrolló hemorragias letales espontáneas tras procedimientos rutinarios.
</a:t>
            </a:r>
            <a:pPr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Aislamiento por Karl Paul Link (1940): </a:t>
            </a:r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Identificó el dicumarol formado por Penicillium nigricans al metabolizar cumarinas del pasto húmedo como inhibidor de VKORC1.
</a:t>
            </a:r>
            <a:pPr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Nacimiento de la Warfarina: </a:t>
            </a:r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Derivado sintético patentado por WARF (Wisconsin Alumni Research Foundation), revolucionando la prevención tromboembólica en fibrilación auricular y válvulas cardíacas mecánicas.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217920" y="1280160"/>
            <a:ext cx="5212080" cy="4754880"/>
          </a:xfrm>
          <a:prstGeom prst="rect">
            <a:avLst/>
          </a:prstGeom>
          <a:solidFill>
            <a:srgbClr val="181E3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0" y="150876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3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Bloqueo Enzimático &amp; Protocolo de Antídoto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92240" y="1965960"/>
            <a:ext cx="466344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Inhibición Competitiva de VKORC1:
</a:t>
            </a:r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dicumarol compite con el 2,3-epóxido de Vitamina K por el centro catalítico de la reductasa, impidiendo la regeneración de vitamina K hidroquinona activa.
</a:t>
            </a:r>
            <a:pPr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Agotamiento de Factores Plasmáticos:
</a:t>
            </a:r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Factor VII (vida media: 6 horas) cae primero, prolongando el TP / INR. Posteriormente caen los factores IX, X y protrombina (II) a las 48-72 horas.
</a:t>
            </a:r>
            <a:pPr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Protocolo de Reversión Inmediata:
</a:t>
            </a:r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hemorragia grave: Vitamina K1 intravenosa lenta (rescata reductasas NAD(P)H-dependientes alternativas) + Concentrado de Complejo Protrombínico (PCC de 4 factores) para hemostasia inmediata.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D2E0"/>
          </a:solidFill>
          <a:ln w="12700">
            <a:solidFill>
              <a:srgbClr val="00D2E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200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2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5 - TERAPÉUTICA MODERNA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59436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Farmacogenómica, Control del INR y DOACs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63093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BioEndo Lab | Módulo 6 de 13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0" y="63093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Fisiología &amp; Bioquímica Humana - Formato de Exposición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280160"/>
            <a:ext cx="3383280" cy="4754880"/>
          </a:xfrm>
          <a:prstGeom prst="rect">
            <a:avLst/>
          </a:prstGeom>
          <a:solidFill>
            <a:srgbClr val="101A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150876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Polimorfismos Genéticos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60120" y="1965960"/>
            <a:ext cx="292608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CYP2C9 (*2 y *3): Alelos de función reducida metabolizan la S-warfarina con menor velocidad, requiriendo dosis reducidas para evitar sangrado tóxico.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VKORC1 (-1639G&gt;A): Variantes promotoras con baja expresión enzimática que aumentan notablemente la sensibilidad clínica a los antagonistas de vitamina K.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389120" y="1280160"/>
            <a:ext cx="3383280" cy="4754880"/>
          </a:xfrm>
          <a:prstGeom prst="rect">
            <a:avLst/>
          </a:prstGeom>
          <a:solidFill>
            <a:srgbClr val="101A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17720" y="150876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2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Monitoreo del INR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617720" y="1965960"/>
            <a:ext cx="292608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International Normalized Ratio (INR):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Estandariza el Tiempo de Protrombina usando el ISI (International Sensitivity Index).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Rango meta terapéutico: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Fibrilación auricular / TVP: INR 2.0 - 3.0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Válvulas cardíacas mecánicas: INR 2.5 - 3.5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TTR: El tiempo en rango terapéutico debe mantenerse &gt; 70%.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046720" y="1280160"/>
            <a:ext cx="3383280" cy="4754880"/>
          </a:xfrm>
          <a:prstGeom prst="rect">
            <a:avLst/>
          </a:prstGeom>
          <a:solidFill>
            <a:srgbClr val="101A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75320" y="150876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9F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Nuevos Anticoagulantes (DOACs)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75320" y="1965960"/>
            <a:ext cx="292608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Inhibidores directos del Factor Xa: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Apixabán, Rivaroxabán, Edoxabán.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Antídoto específico: Andexanet alfa.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Inhibidor directo de Trombina (IIa):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Dabigatrán.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Antídoto monoclonal: Idarucizumab.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Ventajas: Dosis fijas, sin monitoreo rutinario de coagulación ni interacción con vitamina K de la dieta.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D2E0"/>
          </a:solidFill>
          <a:ln w="12700">
            <a:solidFill>
              <a:srgbClr val="00D2E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200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2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6 - PATOLOGÍA HEMOSTÁTICA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59436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Trastornos de la Coagulación, Trombosis y Fibrinólisis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63093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BioEndo Lab | Módulo 7 de 13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0" y="63093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Fisiología &amp; Bioquímica Humana - Formato de Exposición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280160"/>
            <a:ext cx="3383280" cy="4754880"/>
          </a:xfrm>
          <a:prstGeom prst="rect">
            <a:avLst/>
          </a:prstGeom>
          <a:solidFill>
            <a:srgbClr val="101A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150876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3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Coagulopatías Congénitas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60120" y="1965960"/>
            <a:ext cx="292608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Hemofilia A: Deficiencia del Factor VIII ligado al cromosoma X. Provoca hemartrosis espontáneas.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Hemofilia B (Enfermedad de Christmas): Deficiencia de Factor IX (factor K-dependiente).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Enfermedad de Von Willebrand: Déficit de vWF, alterando adhesión plaquetaria y estabilidad del Factor VIII circulante.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389120" y="1280160"/>
            <a:ext cx="3383280" cy="4754880"/>
          </a:xfrm>
          <a:prstGeom prst="rect">
            <a:avLst/>
          </a:prstGeom>
          <a:solidFill>
            <a:srgbClr val="101A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17720" y="150876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Triada de Virchow &amp; Trombosis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617720" y="1965960"/>
            <a:ext cx="292608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Tres factores de trombogénesis: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Lesión endotelial (hipertensión, ateroma)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Estasis venosa o flujo turbulento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Hipercoagulabilidad sanguínea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Trombofilias hereditarias: Mutación del Factor V Leiden (resistencia a proteína C activada) y mutación G20210A de protrombina.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046720" y="1280160"/>
            <a:ext cx="3383280" cy="4754880"/>
          </a:xfrm>
          <a:prstGeom prst="rect">
            <a:avLst/>
          </a:prstGeom>
          <a:solidFill>
            <a:srgbClr val="101A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75320" y="150876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2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Vía Fibrinolítica &amp; Dímero 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75320" y="1965960"/>
            <a:ext cx="292608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Activador Tisular del Plasminógeno (t-PA): Sintetizado por células endoteliales, activa el plasminógeno adsorbido a fibrina hacia Plasmina activa.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Degradación del trombo: La plasmina rompe la malla en productos solubles (FDP).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Dímero D: Marcador sérico de degradación de fibrina reticulada por Factor XIIIa; valor clave para descartar TVP y TEP.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D2E0"/>
          </a:solidFill>
          <a:ln w="12700">
            <a:solidFill>
              <a:srgbClr val="00D2E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200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2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7 - FISIOLOGÍA HUMORAL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59436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Endocrino: Coordinación Humoral a Larga Distancia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63093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BioEndo Lab | Módulo 8 de 13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0" y="63093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Fisiología &amp; Bioquímica Humana - Formato de Exposición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280160"/>
            <a:ext cx="5212080" cy="4754880"/>
          </a:xfrm>
          <a:prstGeom prst="rect">
            <a:avLst/>
          </a:prstGeom>
          <a:solidFill>
            <a:srgbClr val="101A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5087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2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Naturaleza Química de las Hormonas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5840" y="1965960"/>
            <a:ext cx="466344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Hormonas Peptídicas e Hidrosolubles:
</a:t>
            </a:r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Insulina, Glucagón, TSH, ACTH, ADH, Oxitocina.
• Circulan libres en plasma disueltas en agua.
• Receptores de membrana acoplados a proteína G (GPCR) o tirosina quinasa (segundos mensajeros: AMPc, IP3, DAG, Ca²⁺).
</a:t>
            </a:r>
            <a:pPr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Hormonas Liposolubles &amp; Esteroideas:
</a:t>
            </a:r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Cortisol, Aldosterona, Estrógenos, Testosterona, T3/T4.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Circulan unidas a proteínas transportadoras (albúmina, CBG, TBG).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Difunden a través de la bicapa lipídica y se unen a receptores intracelulares citosólicos o nucleares, modulando transcripción génica.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217920" y="1280160"/>
            <a:ext cx="5212080" cy="4754880"/>
          </a:xfrm>
          <a:prstGeom prst="rect">
            <a:avLst/>
          </a:prstGeom>
          <a:solidFill>
            <a:srgbClr val="152035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0" y="150876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9F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Modalidades de Comunicación Intercelular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92240" y="1965960"/>
            <a:ext cx="466344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Señalización Endocrina Clásica:
</a:t>
            </a:r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hormona se vierte al torrente circulatorio general alcanzando células diana distantes dotadas del receptor específico con afinidad nanomolar.
</a:t>
            </a:r>
            <a:pPr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Señalización Paracrina:
</a:t>
            </a:r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Acción en el microambiente tisular vecino inmediato sin entrar masivamente a la circulación (ej. somatostatina en islotes de Langerhans).
</a:t>
            </a:r>
            <a:pPr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Neuroendocrina:
</a:t>
            </a:r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Neuronas hipotalámicas vierten neurohormonas hacia capilares especializados (sistema porta hipofisario o neurohipófisis).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8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D2E0"/>
          </a:solidFill>
          <a:ln w="12700">
            <a:solidFill>
              <a:srgbClr val="00D2E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200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2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8 - ANATOMÍA Y ENDOCRINOLOGÍA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59436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Topografía y Función de las Glándulas Principales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63093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BioEndo Lab | Módulo 9 de 13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0" y="63093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Fisiología &amp; Bioquímica Humana - Formato de Exposición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280160"/>
            <a:ext cx="3429000" cy="2240280"/>
          </a:xfrm>
          <a:prstGeom prst="rect">
            <a:avLst/>
          </a:prstGeom>
          <a:solidFill>
            <a:srgbClr val="101A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41732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2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Hipófisis (Pituitaria)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1737360"/>
            <a:ext cx="3063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9F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Silla turca esfenoidal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14400" y="2011680"/>
            <a:ext cx="30632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Hormonas: Adeno: GH, TSH, ACTH, FSH, LH, PRL.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Neuro: ADH (vasopresina) y Oxitocina.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Función: Glándula maestra que coordina el crecimiento, tiroides, corteza adrenal y reproducción.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389120" y="1280160"/>
            <a:ext cx="3429000" cy="2240280"/>
          </a:xfrm>
          <a:prstGeom prst="rect">
            <a:avLst/>
          </a:prstGeom>
          <a:solidFill>
            <a:srgbClr val="101A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0" y="141732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2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Tiroides y Paratiroides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0" y="1737360"/>
            <a:ext cx="3063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9F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Cuello anterior / tráquea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0" y="2011680"/>
            <a:ext cx="30632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Hormonas: T3, T4, Calcitonina.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Paratiroides: Parathormona (PTH).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Función: Regulación del metabolismo basal celular y control estricto de la calcemia iónica.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8046720" y="1280160"/>
            <a:ext cx="3429000" cy="2240280"/>
          </a:xfrm>
          <a:prstGeom prst="rect">
            <a:avLst/>
          </a:prstGeom>
          <a:solidFill>
            <a:srgbClr val="101A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0" y="141732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2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Glándulas Suprarrenales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229600" y="1737360"/>
            <a:ext cx="3063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9F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Polos renales superiores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229600" y="2011680"/>
            <a:ext cx="30632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Hormonas: Corteza: Cortisol, Aldosterona, DHEA.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Médula: Adrenalina y Noradrenalina.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Función: Respuesta al estrés agudo y crónico, equilibrio hidroelectrolítico y tono cardiovascular.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31520" y="3703320"/>
            <a:ext cx="3429000" cy="2240280"/>
          </a:xfrm>
          <a:prstGeom prst="rect">
            <a:avLst/>
          </a:prstGeom>
          <a:solidFill>
            <a:srgbClr val="101A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384048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2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Páncreas Endocrino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14400" y="4160520"/>
            <a:ext cx="3063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9F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Retroperitoneo / C-duodenal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914400" y="4434840"/>
            <a:ext cx="30632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Hormonas: Células Beta: Insulina.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Células Alfa: Glucagón.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Delta: Somatostatina.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Función: Monitoreo de glucosa minuto a minuto: lipogénesis vs. gluconeogénesis/glucogenólisis.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389120" y="3703320"/>
            <a:ext cx="3429000" cy="2240280"/>
          </a:xfrm>
          <a:prstGeom prst="rect">
            <a:avLst/>
          </a:prstGeom>
          <a:solidFill>
            <a:srgbClr val="101A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0" y="384048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2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Gónadas (Ovarios / Testículos)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0" y="4160520"/>
            <a:ext cx="3063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9F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Pelvis / Bolsas escrotales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572000" y="4434840"/>
            <a:ext cx="30632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Hormonas: Estradiol, Progesterona, Inhibina.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Células Leydig: Testosterona.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Función: Gametogénesis, caracteres sexuales secundarios, trofismo óseo y fertilidad.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8046720" y="3703320"/>
            <a:ext cx="3429000" cy="2240280"/>
          </a:xfrm>
          <a:prstGeom prst="rect">
            <a:avLst/>
          </a:prstGeom>
          <a:solidFill>
            <a:srgbClr val="101A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29600" y="384048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2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Epífisis (Glándula Pineal)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229600" y="4160520"/>
            <a:ext cx="3063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9F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Techo del diencéfalo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229600" y="4434840"/>
            <a:ext cx="30632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Hormonas: Melatonina (N-acetil-5-metoxitriptamina).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Función: Transducción fotoneuroendocrina y sincronización de ritmos circadianos día/noche.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8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D2E0"/>
          </a:solidFill>
          <a:ln w="12700">
            <a:solidFill>
              <a:srgbClr val="00D2E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200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2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9 - FISIOLOGÍA CIBERNÉTICA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59436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Ejes Neuroendocrinos y Circuitos de Retroalimentación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63093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BioEndo Lab | Módulo 10 de 13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0" y="63093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Fisiología &amp; Bioquímica Humana - Formato de Exposición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280160"/>
            <a:ext cx="3429000" cy="4754880"/>
          </a:xfrm>
          <a:prstGeom prst="rect">
            <a:avLst/>
          </a:prstGeom>
          <a:solidFill>
            <a:srgbClr val="101A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50876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2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 Tiroideo (H-H-T)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1965960"/>
            <a:ext cx="306324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Estación Hipotalámica:
</a:t>
            </a:r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TRH (Hormona liberadora de tirotropina)
</a:t>
            </a:r>
            <a:pPr indent="0" marL="0">
              <a:buNone/>
            </a:pPr>
            <a:r>
              <a:rPr lang="en-US" sz="9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Transducción Adenohipofisaria:
</a:t>
            </a:r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TSH (Tirotropina adenohipofisaria)
</a:t>
            </a:r>
            <a:pPr indent="0" marL="0">
              <a:buNone/>
            </a:pPr>
            <a:r>
              <a:rPr lang="en-US" sz="9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Órgano Efector Periférico:
</a:t>
            </a:r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Tiroides -&gt; Secreción de T3 y T4 libre
</a:t>
            </a:r>
            <a:pPr indent="0" marL="0">
              <a:buNone/>
            </a:pPr>
            <a:r>
              <a:rPr lang="en-US" sz="950" b="1" dirty="0">
                <a:solidFill>
                  <a:srgbClr val="00D2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Servomecanismo de Feedback:
</a:t>
            </a:r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T4 y T3 inhiben por retroalimentación negativa la transcripción de TSH en adenohipófisis y TRH en hipotálamo.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389120" y="1280160"/>
            <a:ext cx="3429000" cy="4754880"/>
          </a:xfrm>
          <a:prstGeom prst="rect">
            <a:avLst/>
          </a:prstGeom>
          <a:solidFill>
            <a:srgbClr val="101A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150876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 Adrenal (H-H-A)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0" y="1965960"/>
            <a:ext cx="306324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Estación Hipotalámica:
</a:t>
            </a:r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CRH (Hormona liberadora de corticotropina)
</a:t>
            </a:r>
            <a:pPr indent="0" marL="0">
              <a:buNone/>
            </a:pPr>
            <a:r>
              <a:rPr lang="en-US" sz="9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Transducción Adenohipofisaria:
</a:t>
            </a:r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ACTH (Corticotropina adenohipofisaria)
</a:t>
            </a:r>
            <a:pPr indent="0" marL="0">
              <a:buNone/>
            </a:pPr>
            <a:r>
              <a:rPr lang="en-US" sz="9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Órgano Efector Periférico:
</a:t>
            </a:r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Corteza Suprarrenal -&gt; Secreción de Cortisol
</a:t>
            </a:r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Servomecanismo de Feedback:
</a:t>
            </a:r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cortisol plasmático elevado bloquea receptores hipofisarios y de la corteza límbica, cerrando el bucle homeostático de estrés.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8046720" y="1280160"/>
            <a:ext cx="3429000" cy="4754880"/>
          </a:xfrm>
          <a:prstGeom prst="rect">
            <a:avLst/>
          </a:prstGeom>
          <a:solidFill>
            <a:srgbClr val="101A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0" y="150876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9F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Osmorregulación (Eje ADH)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29600" y="1965960"/>
            <a:ext cx="306324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Estación Hipotalámica:
</a:t>
            </a:r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Osmorreceptores del núcleo supraóptico
</a:t>
            </a:r>
            <a:pPr indent="0" marL="0">
              <a:buNone/>
            </a:pPr>
            <a:r>
              <a:rPr lang="en-US" sz="9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Transducción Adenohipofisaria:
</a:t>
            </a:r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Neurohipófisis -&gt; Secreción de Vasopresina / ADH
</a:t>
            </a:r>
            <a:pPr indent="0" marL="0">
              <a:buNone/>
            </a:pPr>
            <a:r>
              <a:rPr lang="en-US" sz="9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Órgano Efector Periférico:
</a:t>
            </a:r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Túbulo colector renal -&gt; Acuaporinas-2 (AQP2)
</a:t>
            </a:r>
            <a:pPr indent="0" marL="0">
              <a:buNone/>
            </a:pPr>
            <a:r>
              <a:rPr lang="en-US" sz="950" b="1" dirty="0">
                <a:solidFill>
                  <a:srgbClr val="09F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Servomecanismo de Feedback:
</a:t>
            </a:r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Retiene agua libre de solutos, normaliza la osmolaridad plasmática (285-295 mOsm/kg) e inhibe el estímulo de la sed.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8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D2E0"/>
          </a:solidFill>
          <a:ln w="12700">
            <a:solidFill>
              <a:srgbClr val="00D2E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200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2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10 - FISIOLOGÍA INTEGRATIVA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59436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Integración Metabólica y Balance Homeostático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63093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BioEndo Lab | Módulo 11 de 13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0" y="63093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Fisiología &amp; Bioquímica Humana - Formato de Exposición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280160"/>
            <a:ext cx="5212080" cy="4754880"/>
          </a:xfrm>
          <a:prstGeom prst="rect">
            <a:avLst/>
          </a:prstGeom>
          <a:solidFill>
            <a:srgbClr val="101A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5087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2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Regulación Estricta de la Calcemia Iónica (Ca²⁺)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1965960"/>
            <a:ext cx="466344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Concentración normal: 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8.5 a 10.5 mg/dL (1.1 a 1.3 mmol/L ionizado).
</a:t>
            </a:r>
            <a:pPr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Parathormona (PTH): 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Estimulada por hipocalcemia vía sensor CaSR. Activa osteoclastos vía RANKL, aumenta reabsorción renal distal de Ca²⁺ e induce 1-alfa-hidroxilasa para formar calcitriol activo (1,25-(OH)₂D₃).
</a:t>
            </a:r>
            <a:pPr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Calcitonina: 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Secretada por células C tiroideas frente a hipercalcemia; frena transitoriamente la resorción ósea.
</a:t>
            </a:r>
            <a:pPr indent="0" marL="0">
              <a:buNone/>
            </a:pPr>
            <a:r>
              <a:rPr lang="en-US" sz="1000" b="1" dirty="0">
                <a:solidFill>
                  <a:srgbClr val="00D2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Puente Fisiológico: </a:t>
            </a:r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calcio ionizado liberado por la PTH es el ligando divalente indispensable para que los factores carboxilados por Vitamina K anclen al endotelio.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280160"/>
            <a:ext cx="5212080" cy="4754880"/>
          </a:xfrm>
          <a:prstGeom prst="rect">
            <a:avLst/>
          </a:prstGeom>
          <a:solidFill>
            <a:srgbClr val="162238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0" y="150876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9F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Dinamismo Glucémico: Insulina vs. Glucagón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92240" y="1965960"/>
            <a:ext cx="466344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Insulina (Hormona Anabólica):
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Secretada por células beta ante hiperglucemia. Provoca traslocación de GLUT4 en miocitos y adipocitos, glucogenogénesis hepática y lipogénesis.
</a:t>
            </a:r>
            <a:pPr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Glucagón (Hormona de Alerta Energética):
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Secretado por células alfa ante hipoglucemia en ayuno. Vía proteína Gs y AMPc estimula la glucogenólisis y gluconeogénesis hepática.
</a:t>
            </a:r>
            <a:pPr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Cooperación Inter-orgánica:
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hígado actúa como el epicentro metabólico común: sintetiza factores de coagulación dependientes de Vitamina K y responde simultáneamente a insulina y glucagón para mantener la homeostasis energética.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8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D2E0"/>
          </a:solidFill>
          <a:ln w="12700">
            <a:solidFill>
              <a:srgbClr val="00D2E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200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2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11 - RAZONAMIENTO CLÍNICO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59436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Casos Clínicos &amp; Evaluación de Razonamiento Fisiológico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63093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BioEndo Lab | Módulo 12 de 13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0" y="63093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Fisiología &amp; Bioquímica Humana - Formato de Exposición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280160"/>
            <a:ext cx="5212080" cy="4754880"/>
          </a:xfrm>
          <a:prstGeom prst="rect">
            <a:avLst/>
          </a:prstGeom>
          <a:solidFill>
            <a:srgbClr val="101A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15087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2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Caso Clínico 1: Toxicidad por Cumarínicos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60120" y="1965960"/>
            <a:ext cx="4754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PRESENTACIÓN DEL CASO: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Paciente masculino de 68 años con fibrilación auricular anticoagulado con Warfarina acude a urgencias por hematuria franca y epistaxis. INR = 8.5.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960120" y="3429000"/>
            <a:ext cx="4754880" cy="457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3566160"/>
            <a:ext cx="47548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Conducta Médica Inmediata: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Suspender de inmediato la dosis de Warfarina.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Administrar Vitamina K1 (Fitomenadiona 5-10 mg) por infusión intravenosa lenta.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Administrar Concentrado de Complejo Protrombínico (PCC) de 4 factores para reversión inmediata sin sobrecarga de volumen.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217920" y="1280160"/>
            <a:ext cx="5212080" cy="4754880"/>
          </a:xfrm>
          <a:prstGeom prst="rect">
            <a:avLst/>
          </a:prstGeom>
          <a:solidFill>
            <a:srgbClr val="101A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46520" y="15087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2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Caso Clínico 2: Hipocalcemia y Tetania Post-Tiroidectomía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46520" y="1965960"/>
            <a:ext cx="4754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PRESENTACIÓN DEL CASO: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Mujer de 42 años sometida a tiroidectomía total por bocio multinodular presenta a las 36 horas parestesias periorales, signo de Chvostek y signo de Trousseau positivos.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446520" y="3429000"/>
            <a:ext cx="4754880" cy="457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6" name="Text 14"/>
          <p:cNvSpPr/>
          <p:nvPr/>
        </p:nvSpPr>
        <p:spPr>
          <a:xfrm>
            <a:off x="6446520" y="3566160"/>
            <a:ext cx="47548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Mecanismo &amp; Manejo: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Lesión o desvascularización inadvertida de las 4 glándulas paratiroides que causa caída fulminante de PTH.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La hipocalcemia resultante incrementa la permeabilidad neuronal a iones Na⁺, despolarizando el umbral neuromuscular espontáneo.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Tratamiento: Gluconato de calcio IV urgente + Calcitriol oral.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8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D2E0"/>
          </a:solidFill>
          <a:ln w="12700">
            <a:solidFill>
              <a:srgbClr val="00D2E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200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2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12 - MARCO TEÓRICO Y BIBLIOGRAFÍA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59436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Conclusiones y Referencias Bibliográficas (Normas APA)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63093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BioEndo Lab | Módulo 13 de 13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0" y="63093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Fisiología &amp; Bioquímica Humana - Formato de Exposición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280160"/>
            <a:ext cx="5212080" cy="4754880"/>
          </a:xfrm>
          <a:prstGeom prst="rect">
            <a:avLst/>
          </a:prstGeom>
          <a:solidFill>
            <a:srgbClr val="101A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5087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9F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Conclusiones Académicas Principales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1965960"/>
            <a:ext cx="466344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Interdependencia Molecular: 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Vitamina K demuestra que los micronutrientes son cofactores indispensables para reacciones esteocimétricas de carboxilación hepática.
</a:t>
            </a:r>
            <a:pPr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Farmacología Racional: 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bloqueo de la VKORC1 por warfarina versus la inhibición directa de DOACs ejemplifica la evolución de la terapéutica antitrombótica basada en blancos moleculares selectivos.
</a:t>
            </a:r>
            <a:pPr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Fisiología en Red: 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eje neuroendocrino y el control hemostático no son entes aislados; comparten el ion Ca²⁺, la perfusión vascular y servomecanismos de feedback que mantienen la viabilidad del organismo humano.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280160"/>
            <a:ext cx="5212080" cy="4754880"/>
          </a:xfrm>
          <a:prstGeom prst="rect">
            <a:avLst/>
          </a:prstGeom>
          <a:solidFill>
            <a:srgbClr val="131B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0" y="150876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2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Bibliografía Médica Estándar (Normas APA 7.ª Edición)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92240" y="1965960"/>
            <a:ext cx="466344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Hall, J. E., &amp; Hall, M. E. (2021). </a:t>
            </a:r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Guyton and Hall Textbook of Medical Physiology (14th ed.). Elsevier.
</a:t>
            </a:r>
            <a:pPr indent="0" marL="0">
              <a:buNone/>
            </a:pPr>
            <a:r>
              <a:rPr lang="en-US" sz="9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Nelson, D. L., &amp; Cox, M. M. (2021). </a:t>
            </a:r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Lehninger Principles of Biochemistry (8th ed.). W. H. Freeman and Company.
</a:t>
            </a:r>
            <a:pPr indent="0" marL="0">
              <a:buNone/>
            </a:pPr>
            <a:r>
              <a:rPr lang="en-US" sz="9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Boron, W. F., &amp; Boulpaep, E. L. (2017). </a:t>
            </a:r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Medical Physiology (3rd ed.). Elsevier Health Sciences.
</a:t>
            </a:r>
            <a:pPr indent="0" marL="0">
              <a:buNone/>
            </a:pPr>
            <a:r>
              <a:rPr lang="en-US" sz="9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Berkner, K. L. (2005). </a:t>
            </a:r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vitamin K-dependent carboxylation system. Annual Review of Nutrition, 25(1), 127–149.
</a:t>
            </a:r>
            <a:pPr indent="0" marL="0">
              <a:buNone/>
            </a:pPr>
            <a:r>
              <a:rPr lang="en-US" sz="9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Melmed, S., et al. (2020). </a:t>
            </a:r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Williams Textbook of Endocrinology (14th ed.). Elsevier.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BioEndo Lab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BioEndo Lab: Vitamina K, Coagulacion y Eje Neuroendocrino</dc:title>
  <dc:subject>Bioquimica Medica y Fisiologia Humana</dc:subject>
  <dc:creator>BioEndo Lab - Fisiologia y Bioquimica</dc:creator>
  <cp:lastModifiedBy>BioEndo Lab - Fisiologia y Bioquimica</cp:lastModifiedBy>
  <cp:revision>1</cp:revision>
  <dcterms:created xsi:type="dcterms:W3CDTF">2026-10-01T17:22:17Z</dcterms:created>
  <dcterms:modified xsi:type="dcterms:W3CDTF">2026-10-01T17:22:17Z</dcterms:modified>
</cp:coreProperties>
</file>